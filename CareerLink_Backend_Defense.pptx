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Today I will be presenting the backend architecture and implementation for CareerLink Nepal, our professional networking platform for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our backend, we chose Supabase as our Backend-as-a-Service. It gives us a powerful PostgreSQL database out of the box. Instead of building a traditional REST API from scratch, we use the Supabase Client combined with React Query to fetch and cache our data directly and efficiently.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database is highly relational. We designed core tables for Users, Posts, Communities, and Events. We strictly enforce data integrity using Foreign Keys—for instance, ensuring a post is always tied to a valid user. All structural changes are tracked using SQL migrations for version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starts with Authentication. We implemented Supabase Auth using Email and Password, secured via JWTs. A key feature we built is a mandatory email verification flow—users cannot access the app until their email is confirmed. We also store extended user metadata, like their college and field of study, securely within the Auth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client talks directly to the database, we implemented Row Level Security (RLS). This means the database itself checks who you are before returning data. We wrote policies ensuring users can only modify their own data, while keeping community content readable to all authenticated members.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optimize performance, we validate all data using Zod before it ever reaches the backend, saving server load. We also heavily utilize React Query to cache responses, meaning the app feels incredibly fast because it doesn't need to read from the database for every single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development, we faced challenges with security and API limits. We solved unauthorized access by layering our defense: using Protected Routes on the frontend and RLS on the backend. We also successfully handled data mismatches and API rate limits during testing by standardizing our schemas and implementing graceful error handling in the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we have built a secure and scalable backend. For future scope, we plan to implement Supabase Real-time for instant messaging, add database indexing for faster searches, and expand our Role-Based Access Control for community moderators. Thank you, I am now open to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1828800"/>
            <a:ext cx="7315200" cy="914400"/>
          </a:xfrm>
          <a:prstGeom prst="rect">
            <a:avLst/>
          </a:prstGeom>
          <a:noFill/>
          <a:ln/>
        </p:spPr>
        <p:txBody>
          <a:bodyPr wrap="square" rtlCol="0" anchor="ctr"/>
          <a:lstStyle/>
          <a:p>
            <a:pPr algn="ctr" indent="0" marL="0">
              <a:buNone/>
            </a:pPr>
            <a:r>
              <a:rPr lang="en-US" sz="4800" b="1" dirty="0">
                <a:solidFill>
                  <a:srgbClr val="0B3D91"/>
                </a:solidFill>
              </a:rPr>
              <a:t>CareerLink Nepal</a:t>
            </a:r>
            <a:endParaRPr lang="en-US" sz="4800" dirty="0"/>
          </a:p>
        </p:txBody>
      </p:sp>
      <p:sp>
        <p:nvSpPr>
          <p:cNvPr id="3" name="Text 1"/>
          <p:cNvSpPr/>
          <p:nvPr/>
        </p:nvSpPr>
        <p:spPr>
          <a:xfrm>
            <a:off x="914400" y="2743200"/>
            <a:ext cx="7315200" cy="914400"/>
          </a:xfrm>
          <a:prstGeom prst="rect">
            <a:avLst/>
          </a:prstGeom>
          <a:noFill/>
          <a:ln/>
        </p:spPr>
        <p:txBody>
          <a:bodyPr wrap="square" rtlCol="0" anchor="ctr"/>
          <a:lstStyle/>
          <a:p>
            <a:pPr algn="ctr" indent="0" marL="0">
              <a:buNone/>
            </a:pPr>
            <a:r>
              <a:rPr lang="en-US" sz="2800" dirty="0">
                <a:solidFill>
                  <a:srgbClr val="687A95"/>
                </a:solidFill>
              </a:rPr>
              <a:t>Backend Architecture - Project Defense</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3600" b="1" dirty="0">
                <a:solidFill>
                  <a:srgbClr val="0B3D91"/>
                </a:solidFill>
              </a:rPr>
              <a:t>Backend Architecture Overview</a:t>
            </a:r>
            <a:endParaRPr lang="en-US" sz="3600" dirty="0"/>
          </a:p>
        </p:txBody>
      </p:sp>
      <p:sp>
        <p:nvSpPr>
          <p:cNvPr id="3" name="Text 1"/>
          <p:cNvSpPr/>
          <p:nvPr/>
        </p:nvSpPr>
        <p:spPr>
          <a:xfrm>
            <a:off x="457200" y="1645920"/>
            <a:ext cx="8229600" cy="3657600"/>
          </a:xfrm>
          <a:prstGeom prst="rect">
            <a:avLst/>
          </a:prstGeom>
          <a:noFill/>
          <a:ln/>
        </p:spPr>
        <p:txBody>
          <a:bodyPr wrap="square" rtlCol="0" anchor="t"/>
          <a:lstStyle/>
          <a:p>
            <a:pPr marL="342900" indent="-342900">
              <a:buSzPct val="100000"/>
              <a:buChar char="•"/>
            </a:pPr>
            <a:r>
              <a:rPr lang="en-US" sz="2200" b="1" dirty="0">
                <a:solidFill>
                  <a:srgbClr val="363636"/>
                </a:solidFill>
              </a:rPr>
              <a:t>Backend-as-a-Service (BaaS):</a:t>
            </a:r>
            <a:pPr indent="0" marL="0">
              <a:buNone/>
            </a:pPr>
            <a:r>
              <a:rPr lang="en-US" sz="2200" dirty="0">
                <a:solidFill>
                  <a:srgbClr val="363636"/>
                </a:solidFill>
              </a:rPr>
              <a:t> Powered by Supabase</a:t>
            </a:r>
            <a:pPr indent="0" marL="0">
              <a:buNone/>
            </a:pPr>
            <a:endParaRPr lang="en-US" sz="2200" dirty="0"/>
          </a:p>
          <a:p>
            <a:pPr indent="0" marL="0">
              <a:buNone/>
            </a:pPr>
            <a:r>
              <a:rPr lang="en-US" sz="2200" b="1" dirty="0">
                <a:solidFill>
                  <a:srgbClr val="363636"/>
                </a:solidFill>
              </a:rPr>
              <a:t>Core Database:</a:t>
            </a:r>
            <a:endParaRPr lang="en-US" sz="2200" dirty="0"/>
          </a:p>
          <a:p>
            <a:pPr indent="0" marL="0">
              <a:buNone/>
            </a:pPr>
            <a:r>
              <a:rPr lang="en-US" sz="2200" dirty="0">
                <a:solidFill>
                  <a:srgbClr val="363636"/>
                </a:solidFill>
              </a:rPr>
              <a:t> PostgreSQL for robust, relational data management</a:t>
            </a:r>
            <a:pPr indent="0" marL="0">
              <a:buNone/>
            </a:pPr>
            <a:endParaRPr lang="en-US" sz="2200" dirty="0"/>
          </a:p>
          <a:p>
            <a:pPr indent="0" marL="0">
              <a:buNone/>
            </a:pPr>
            <a:r>
              <a:rPr lang="en-US" sz="2200" b="1" dirty="0">
                <a:solidFill>
                  <a:srgbClr val="363636"/>
                </a:solidFill>
              </a:rPr>
              <a:t>Client Integration:</a:t>
            </a:r>
            <a:endParaRPr lang="en-US" sz="2200" dirty="0"/>
          </a:p>
          <a:p>
            <a:pPr indent="0" marL="0">
              <a:buNone/>
            </a:pPr>
            <a:r>
              <a:rPr lang="en-US" sz="2200" dirty="0">
                <a:solidFill>
                  <a:srgbClr val="363636"/>
                </a:solidFill>
              </a:rPr>
              <a:t> Direct API interaction via Supabase Client</a:t>
            </a:r>
            <a:pPr indent="0" marL="0">
              <a:buNone/>
            </a:pPr>
            <a:endParaRPr lang="en-US" sz="2200" dirty="0"/>
          </a:p>
          <a:p>
            <a:pPr indent="0" marL="0">
              <a:buNone/>
            </a:pPr>
            <a:r>
              <a:rPr lang="en-US" sz="2200" b="1" dirty="0">
                <a:solidFill>
                  <a:srgbClr val="363636"/>
                </a:solidFill>
              </a:rPr>
              <a:t>State Management:</a:t>
            </a:r>
            <a:endParaRPr lang="en-US" sz="2200" dirty="0"/>
          </a:p>
          <a:p>
            <a:pPr indent="0" marL="0">
              <a:buNone/>
            </a:pPr>
            <a:r>
              <a:rPr lang="en-US" sz="2200" dirty="0">
                <a:solidFill>
                  <a:srgbClr val="363636"/>
                </a:solidFill>
              </a:rPr>
              <a:t> TanStack React Query for efficient data caching</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3600" b="1" dirty="0">
                <a:solidFill>
                  <a:srgbClr val="0B3D91"/>
                </a:solidFill>
              </a:rPr>
              <a:t>Database Design &amp; Schema</a:t>
            </a:r>
            <a:endParaRPr lang="en-US" sz="3600" dirty="0"/>
          </a:p>
        </p:txBody>
      </p:sp>
      <p:sp>
        <p:nvSpPr>
          <p:cNvPr id="3" name="Text 1"/>
          <p:cNvSpPr/>
          <p:nvPr/>
        </p:nvSpPr>
        <p:spPr>
          <a:xfrm>
            <a:off x="457200" y="1645920"/>
            <a:ext cx="8229600" cy="3657600"/>
          </a:xfrm>
          <a:prstGeom prst="rect">
            <a:avLst/>
          </a:prstGeom>
          <a:noFill/>
          <a:ln/>
        </p:spPr>
        <p:txBody>
          <a:bodyPr wrap="square" rtlCol="0" anchor="t"/>
          <a:lstStyle/>
          <a:p>
            <a:pPr marL="342900" indent="-342900">
              <a:buSzPct val="100000"/>
              <a:buChar char="•"/>
            </a:pPr>
            <a:r>
              <a:rPr lang="en-US" sz="2200" b="1" dirty="0">
                <a:solidFill>
                  <a:srgbClr val="363636"/>
                </a:solidFill>
              </a:rPr>
              <a:t>Relational Entity Model:</a:t>
            </a:r>
            <a:pPr indent="0" marL="0">
              <a:buNone/>
            </a:pPr>
            <a:r>
              <a:rPr lang="en-US" sz="2200" dirty="0">
                <a:solidFill>
                  <a:srgbClr val="363636"/>
                </a:solidFill>
              </a:rPr>
              <a:t> Core tables include Users, Posts, Communities, Events, and Study Partners</a:t>
            </a:r>
            <a:pPr indent="0" marL="0">
              <a:buNone/>
            </a:pPr>
            <a:endParaRPr lang="en-US" sz="2200" dirty="0"/>
          </a:p>
          <a:p>
            <a:pPr indent="0" marL="0">
              <a:buNone/>
            </a:pPr>
            <a:r>
              <a:rPr lang="en-US" sz="2200" b="1" dirty="0">
                <a:solidFill>
                  <a:srgbClr val="363636"/>
                </a:solidFill>
              </a:rPr>
              <a:t>Foreign Key Relationships:</a:t>
            </a:r>
            <a:endParaRPr lang="en-US" sz="2200" dirty="0"/>
          </a:p>
          <a:p>
            <a:pPr indent="0" marL="0">
              <a:buNone/>
            </a:pPr>
            <a:r>
              <a:rPr lang="en-US" sz="2200" dirty="0">
                <a:solidFill>
                  <a:srgbClr val="363636"/>
                </a:solidFill>
              </a:rPr>
              <a:t> Ensuring strict data integrity (e.g., every Post is strictly linked to a User)</a:t>
            </a:r>
            <a:pPr indent="0" marL="0">
              <a:buNone/>
            </a:pPr>
            <a:endParaRPr lang="en-US" sz="2200" dirty="0"/>
          </a:p>
          <a:p>
            <a:pPr indent="0" marL="0">
              <a:buNone/>
            </a:pPr>
            <a:r>
              <a:rPr lang="en-US" sz="2200" b="1" dirty="0">
                <a:solidFill>
                  <a:srgbClr val="363636"/>
                </a:solidFill>
              </a:rPr>
              <a:t>Schema Migrations:</a:t>
            </a:r>
            <a:endParaRPr lang="en-US" sz="2200" dirty="0"/>
          </a:p>
          <a:p>
            <a:pPr indent="0" marL="0">
              <a:buNone/>
            </a:pPr>
            <a:r>
              <a:rPr lang="en-US" sz="2200" dirty="0">
                <a:solidFill>
                  <a:srgbClr val="363636"/>
                </a:solidFill>
              </a:rPr>
              <a:t> Using SQL migration files to safely track and version database changes</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3600" b="1" dirty="0">
                <a:solidFill>
                  <a:srgbClr val="0B3D91"/>
                </a:solidFill>
              </a:rPr>
              <a:t>Authentication &amp; User Management</a:t>
            </a:r>
            <a:endParaRPr lang="en-US" sz="3600" dirty="0"/>
          </a:p>
        </p:txBody>
      </p:sp>
      <p:sp>
        <p:nvSpPr>
          <p:cNvPr id="3" name="Text 1"/>
          <p:cNvSpPr/>
          <p:nvPr/>
        </p:nvSpPr>
        <p:spPr>
          <a:xfrm>
            <a:off x="457200" y="1645920"/>
            <a:ext cx="8229600" cy="3657600"/>
          </a:xfrm>
          <a:prstGeom prst="rect">
            <a:avLst/>
          </a:prstGeom>
          <a:noFill/>
          <a:ln/>
        </p:spPr>
        <p:txBody>
          <a:bodyPr wrap="square" rtlCol="0" anchor="t"/>
          <a:lstStyle/>
          <a:p>
            <a:pPr marL="342900" indent="-342900">
              <a:buSzPct val="100000"/>
              <a:buChar char="•"/>
            </a:pPr>
            <a:r>
              <a:rPr lang="en-US" sz="2200" b="1" dirty="0">
                <a:solidFill>
                  <a:srgbClr val="363636"/>
                </a:solidFill>
              </a:rPr>
              <a:t>Auth Provider:</a:t>
            </a:r>
            <a:pPr indent="0" marL="0">
              <a:buNone/>
            </a:pPr>
            <a:r>
              <a:rPr lang="en-US" sz="2200" dirty="0">
                <a:solidFill>
                  <a:srgbClr val="363636"/>
                </a:solidFill>
              </a:rPr>
              <a:t> Supabase Authentication (Email &amp; Password)</a:t>
            </a:r>
            <a:pPr indent="0" marL="0">
              <a:buNone/>
            </a:pPr>
            <a:endParaRPr lang="en-US" sz="2200" dirty="0"/>
          </a:p>
          <a:p>
            <a:pPr indent="0" marL="0">
              <a:buNone/>
            </a:pPr>
            <a:r>
              <a:rPr lang="en-US" sz="2200" b="1" dirty="0">
                <a:solidFill>
                  <a:srgbClr val="363636"/>
                </a:solidFill>
              </a:rPr>
              <a:t>Security:</a:t>
            </a:r>
            <a:endParaRPr lang="en-US" sz="2200" dirty="0"/>
          </a:p>
          <a:p>
            <a:pPr indent="0" marL="0">
              <a:buNone/>
            </a:pPr>
            <a:r>
              <a:rPr lang="en-US" sz="2200" dirty="0">
                <a:solidFill>
                  <a:srgbClr val="363636"/>
                </a:solidFill>
              </a:rPr>
              <a:t> JSON Web Tokens (JWT) for secure session management</a:t>
            </a:r>
            <a:pPr indent="0" marL="0">
              <a:buNone/>
            </a:pPr>
            <a:endParaRPr lang="en-US" sz="2200" dirty="0"/>
          </a:p>
          <a:p>
            <a:pPr indent="0" marL="0">
              <a:buNone/>
            </a:pPr>
            <a:r>
              <a:rPr lang="en-US" sz="2200" b="1" dirty="0">
                <a:solidFill>
                  <a:srgbClr val="363636"/>
                </a:solidFill>
              </a:rPr>
              <a:t>Custom Verification Flow:</a:t>
            </a:r>
            <a:endParaRPr lang="en-US" sz="2200" dirty="0"/>
          </a:p>
          <a:p>
            <a:pPr indent="0" marL="0">
              <a:buNone/>
            </a:pPr>
            <a:r>
              <a:rPr lang="en-US" sz="2200" dirty="0">
                <a:solidFill>
                  <a:srgbClr val="363636"/>
                </a:solidFill>
              </a:rPr>
              <a:t> Mandatory email confirmation before granting web-app access</a:t>
            </a:r>
            <a:pPr indent="0" marL="0">
              <a:buNone/>
            </a:pPr>
            <a:endParaRPr lang="en-US" sz="2200" dirty="0"/>
          </a:p>
          <a:p>
            <a:pPr indent="0" marL="0">
              <a:buNone/>
            </a:pPr>
            <a:r>
              <a:rPr lang="en-US" sz="2200" b="1" dirty="0">
                <a:solidFill>
                  <a:srgbClr val="363636"/>
                </a:solidFill>
              </a:rPr>
              <a:t>Extended Metadata:</a:t>
            </a:r>
            <a:endParaRPr lang="en-US" sz="2200" dirty="0"/>
          </a:p>
          <a:p>
            <a:pPr indent="0" marL="0">
              <a:buNone/>
            </a:pPr>
            <a:r>
              <a:rPr lang="en-US" sz="2200" dirty="0">
                <a:solidFill>
                  <a:srgbClr val="363636"/>
                </a:solidFill>
              </a:rPr>
              <a:t> Storing user context (College, Field of Study) directly within the secure Auth object</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3600" b="1" dirty="0">
                <a:solidFill>
                  <a:srgbClr val="0B3D91"/>
                </a:solidFill>
              </a:rPr>
              <a:t>Data Security &amp; Access Control</a:t>
            </a:r>
            <a:endParaRPr lang="en-US" sz="3600" dirty="0"/>
          </a:p>
        </p:txBody>
      </p:sp>
      <p:sp>
        <p:nvSpPr>
          <p:cNvPr id="3" name="Text 1"/>
          <p:cNvSpPr/>
          <p:nvPr/>
        </p:nvSpPr>
        <p:spPr>
          <a:xfrm>
            <a:off x="457200" y="1645920"/>
            <a:ext cx="8229600" cy="3657600"/>
          </a:xfrm>
          <a:prstGeom prst="rect">
            <a:avLst/>
          </a:prstGeom>
          <a:noFill/>
          <a:ln/>
        </p:spPr>
        <p:txBody>
          <a:bodyPr wrap="square" rtlCol="0" anchor="t"/>
          <a:lstStyle/>
          <a:p>
            <a:pPr marL="342900" indent="-342900">
              <a:buSzPct val="100000"/>
              <a:buChar char="•"/>
            </a:pPr>
            <a:r>
              <a:rPr lang="en-US" sz="2200" b="1" dirty="0">
                <a:solidFill>
                  <a:srgbClr val="363636"/>
                </a:solidFill>
              </a:rPr>
              <a:t>Row Level Security (RLS):</a:t>
            </a:r>
            <a:pPr indent="0" marL="0">
              <a:buNone/>
            </a:pPr>
            <a:r>
              <a:rPr lang="en-US" sz="2200" dirty="0">
                <a:solidFill>
                  <a:srgbClr val="363636"/>
                </a:solidFill>
              </a:rPr>
              <a:t> PostgreSQL policies enforcing access at the database level</a:t>
            </a:r>
            <a:pPr indent="0" marL="0">
              <a:buNone/>
            </a:pPr>
            <a:endParaRPr lang="en-US" sz="2200" dirty="0"/>
          </a:p>
          <a:p>
            <a:pPr indent="0" marL="0">
              <a:buNone/>
            </a:pPr>
            <a:r>
              <a:rPr lang="en-US" sz="2200" b="1" dirty="0">
                <a:solidFill>
                  <a:srgbClr val="363636"/>
                </a:solidFill>
              </a:rPr>
              <a:t>Ownership Rules:</a:t>
            </a:r>
            <a:endParaRPr lang="en-US" sz="2200" dirty="0"/>
          </a:p>
          <a:p>
            <a:pPr indent="0" marL="0">
              <a:buNone/>
            </a:pPr>
            <a:r>
              <a:rPr lang="en-US" sz="2200" dirty="0">
                <a:solidFill>
                  <a:srgbClr val="363636"/>
                </a:solidFill>
              </a:rPr>
              <a:t> Users can only edit or delete their own posts and data</a:t>
            </a:r>
            <a:pPr indent="0" marL="0">
              <a:buNone/>
            </a:pPr>
            <a:endParaRPr lang="en-US" sz="2200" dirty="0"/>
          </a:p>
          <a:p>
            <a:pPr indent="0" marL="0">
              <a:buNone/>
            </a:pPr>
            <a:r>
              <a:rPr lang="en-US" sz="2200" b="1" dirty="0">
                <a:solidFill>
                  <a:srgbClr val="363636"/>
                </a:solidFill>
              </a:rPr>
              <a:t>Public vs. Private Data:</a:t>
            </a:r>
            <a:endParaRPr lang="en-US" sz="2200" dirty="0"/>
          </a:p>
          <a:p>
            <a:pPr indent="0" marL="0">
              <a:buNone/>
            </a:pPr>
            <a:r>
              <a:rPr lang="en-US" sz="2200" dirty="0">
                <a:solidFill>
                  <a:srgbClr val="363636"/>
                </a:solidFill>
              </a:rPr>
              <a:t> Community posts are readable by authenticated users; sensitive data is restricted</a:t>
            </a:r>
            <a:pPr indent="0" marL="0">
              <a:buNone/>
            </a:pPr>
            <a:endParaRPr lang="en-US" sz="2200" dirty="0"/>
          </a:p>
          <a:p>
            <a:pPr indent="0" marL="0">
              <a:buNone/>
            </a:pPr>
            <a:r>
              <a:rPr lang="en-US" sz="2200" b="1" dirty="0">
                <a:solidFill>
                  <a:srgbClr val="363636"/>
                </a:solidFill>
              </a:rPr>
              <a:t>Admin Protection:</a:t>
            </a:r>
            <a:endParaRPr lang="en-US" sz="2200" dirty="0"/>
          </a:p>
          <a:p>
            <a:pPr indent="0" marL="0">
              <a:buNone/>
            </a:pPr>
            <a:r>
              <a:rPr lang="en-US" sz="2200" dirty="0">
                <a:solidFill>
                  <a:srgbClr val="363636"/>
                </a:solidFill>
              </a:rPr>
              <a:t> Strict server-side checks for dashboard and user management access</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3600" b="1" dirty="0">
                <a:solidFill>
                  <a:srgbClr val="0B3D91"/>
                </a:solidFill>
              </a:rPr>
              <a:t>API Optimization &amp; Data Validation</a:t>
            </a:r>
            <a:endParaRPr lang="en-US" sz="3600" dirty="0"/>
          </a:p>
        </p:txBody>
      </p:sp>
      <p:sp>
        <p:nvSpPr>
          <p:cNvPr id="3" name="Text 1"/>
          <p:cNvSpPr/>
          <p:nvPr/>
        </p:nvSpPr>
        <p:spPr>
          <a:xfrm>
            <a:off x="457200" y="1645920"/>
            <a:ext cx="8229600" cy="3657600"/>
          </a:xfrm>
          <a:prstGeom prst="rect">
            <a:avLst/>
          </a:prstGeom>
          <a:noFill/>
          <a:ln/>
        </p:spPr>
        <p:txBody>
          <a:bodyPr wrap="square" rtlCol="0" anchor="t"/>
          <a:lstStyle/>
          <a:p>
            <a:pPr marL="342900" indent="-342900">
              <a:buSzPct val="100000"/>
              <a:buChar char="•"/>
            </a:pPr>
            <a:r>
              <a:rPr lang="en-US" sz="2200" b="1" dirty="0">
                <a:solidFill>
                  <a:srgbClr val="363636"/>
                </a:solidFill>
              </a:rPr>
              <a:t>Pre-flight Validation:</a:t>
            </a:r>
            <a:pPr indent="0" marL="0">
              <a:buNone/>
            </a:pPr>
            <a:r>
              <a:rPr lang="en-US" sz="2200" dirty="0">
                <a:solidFill>
                  <a:srgbClr val="363636"/>
                </a:solidFill>
              </a:rPr>
              <a:t> Using Zod schemas to validate all data on the client before it hits the backend</a:t>
            </a:r>
            <a:pPr indent="0" marL="0">
              <a:buNone/>
            </a:pPr>
            <a:endParaRPr lang="en-US" sz="2200" dirty="0"/>
          </a:p>
          <a:p>
            <a:pPr indent="0" marL="0">
              <a:buNone/>
            </a:pPr>
            <a:r>
              <a:rPr lang="en-US" sz="2200" b="1" dirty="0">
                <a:solidFill>
                  <a:srgbClr val="363636"/>
                </a:solidFill>
              </a:rPr>
              <a:t>Reduced Server Load:</a:t>
            </a:r>
            <a:endParaRPr lang="en-US" sz="2200" dirty="0"/>
          </a:p>
          <a:p>
            <a:pPr indent="0" marL="0">
              <a:buNone/>
            </a:pPr>
            <a:r>
              <a:rPr lang="en-US" sz="2200" dirty="0">
                <a:solidFill>
                  <a:srgbClr val="363636"/>
                </a:solidFill>
              </a:rPr>
              <a:t> Catching errors early saves backend processing power</a:t>
            </a:r>
            <a:pPr indent="0" marL="0">
              <a:buNone/>
            </a:pPr>
            <a:endParaRPr lang="en-US" sz="2200" dirty="0"/>
          </a:p>
          <a:p>
            <a:pPr indent="0" marL="0">
              <a:buNone/>
            </a:pPr>
            <a:r>
              <a:rPr lang="en-US" sz="2200" b="1" dirty="0">
                <a:solidFill>
                  <a:srgbClr val="363636"/>
                </a:solidFill>
              </a:rPr>
              <a:t>Data Caching:</a:t>
            </a:r>
            <a:endParaRPr lang="en-US" sz="2200" dirty="0"/>
          </a:p>
          <a:p>
            <a:pPr indent="0" marL="0">
              <a:buNone/>
            </a:pPr>
            <a:r>
              <a:rPr lang="en-US" sz="2200" dirty="0">
                <a:solidFill>
                  <a:srgbClr val="363636"/>
                </a:solidFill>
              </a:rPr>
              <a:t> React Query reduces redundant database reads and improves application speed</a:t>
            </a:r>
            <a:pPr indent="0" marL="0">
              <a:buNone/>
            </a:pPr>
            <a:endParaRPr lang="en-US" sz="2200" dirty="0"/>
          </a:p>
          <a:p>
            <a:pPr indent="0" marL="0">
              <a:buNone/>
            </a:pPr>
            <a:r>
              <a:rPr lang="en-US" sz="2200" b="1" dirty="0">
                <a:solidFill>
                  <a:srgbClr val="363636"/>
                </a:solidFill>
              </a:rPr>
              <a:t>Error Handling:</a:t>
            </a:r>
            <a:endParaRPr lang="en-US" sz="2200" dirty="0"/>
          </a:p>
          <a:p>
            <a:pPr indent="0" marL="0">
              <a:buNone/>
            </a:pPr>
            <a:r>
              <a:rPr lang="en-US" sz="2200" dirty="0">
                <a:solidFill>
                  <a:srgbClr val="363636"/>
                </a:solidFill>
              </a:rPr>
              <a:t> Standardized mapping of Supabase errors to user-friendly UI messages</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3600" b="1" dirty="0">
                <a:solidFill>
                  <a:srgbClr val="0B3D91"/>
                </a:solidFill>
              </a:rPr>
              <a:t>Challenges &amp; Solutions</a:t>
            </a:r>
            <a:endParaRPr lang="en-US" sz="3600" dirty="0"/>
          </a:p>
        </p:txBody>
      </p:sp>
      <p:sp>
        <p:nvSpPr>
          <p:cNvPr id="3" name="Text 1"/>
          <p:cNvSpPr/>
          <p:nvPr/>
        </p:nvSpPr>
        <p:spPr>
          <a:xfrm>
            <a:off x="457200" y="1645920"/>
            <a:ext cx="8229600" cy="3657600"/>
          </a:xfrm>
          <a:prstGeom prst="rect">
            <a:avLst/>
          </a:prstGeom>
          <a:noFill/>
          <a:ln/>
        </p:spPr>
        <p:txBody>
          <a:bodyPr wrap="square" rtlCol="0" anchor="t"/>
          <a:lstStyle/>
          <a:p>
            <a:pPr marL="342900" indent="-342900">
              <a:buSzPct val="100000"/>
              <a:buChar char="•"/>
            </a:pPr>
            <a:r>
              <a:rPr lang="en-US" sz="2200" b="1" dirty="0">
                <a:solidFill>
                  <a:srgbClr val="363636"/>
                </a:solidFill>
              </a:rPr>
              <a:t>Challenge 1:</a:t>
            </a:r>
            <a:pPr indent="0" marL="0">
              <a:buNone/>
            </a:pPr>
            <a:r>
              <a:rPr lang="en-US" sz="2200" dirty="0">
                <a:solidFill>
                  <a:srgbClr val="363636"/>
                </a:solidFill>
              </a:rPr>
              <a:t> Handling unauthorized access and managing secure routes.</a:t>
            </a:r>
            <a:pPr indent="0" marL="0">
              <a:buNone/>
            </a:pPr>
            <a:endParaRPr lang="en-US" sz="2200" dirty="0"/>
          </a:p>
          <a:p>
            <a:pPr indent="0" marL="0">
              <a:buNone/>
            </a:pPr>
            <a:r>
              <a:rPr lang="en-US" sz="2200" b="1" dirty="0">
                <a:solidFill>
                  <a:srgbClr val="008800"/>
                </a:solidFill>
              </a:rPr>
              <a:t>Solution 1:</a:t>
            </a:r>
            <a:endParaRPr lang="en-US" sz="2200" dirty="0"/>
          </a:p>
          <a:p>
            <a:pPr indent="0" marL="0">
              <a:buNone/>
            </a:pPr>
            <a:r>
              <a:rPr lang="en-US" sz="2200" dirty="0">
                <a:solidFill>
                  <a:srgbClr val="363636"/>
                </a:solidFill>
              </a:rPr>
              <a:t> Implemented strict Protected Routes on the frontend paired with RLS policies on the backend.</a:t>
            </a:r>
            <a:pPr indent="0" marL="0">
              <a:buNone/>
            </a:pPr>
            <a:endParaRPr lang="en-US" sz="2200" dirty="0"/>
          </a:p>
          <a:p>
            <a:pPr indent="0" marL="0">
              <a:buNone/>
            </a:pPr>
            <a:r>
              <a:rPr lang="en-US" sz="2200" b="1" dirty="0">
                <a:solidFill>
                  <a:srgbClr val="363636"/>
                </a:solidFill>
              </a:rPr>
              <a:t>Challenge 2:</a:t>
            </a:r>
            <a:endParaRPr lang="en-US" sz="2200" dirty="0"/>
          </a:p>
          <a:p>
            <a:pPr indent="0" marL="0">
              <a:buNone/>
            </a:pPr>
            <a:r>
              <a:rPr lang="en-US" sz="2200" dirty="0">
                <a:solidFill>
                  <a:srgbClr val="363636"/>
                </a:solidFill>
              </a:rPr>
              <a:t> API Rate Limiting and Validation mismatches during account creation.</a:t>
            </a:r>
            <a:pPr indent="0" marL="0">
              <a:buNone/>
            </a:pPr>
            <a:endParaRPr lang="en-US" sz="2200" dirty="0"/>
          </a:p>
          <a:p>
            <a:pPr indent="0" marL="0">
              <a:buNone/>
            </a:pPr>
            <a:r>
              <a:rPr lang="en-US" sz="2200" b="1" dirty="0">
                <a:solidFill>
                  <a:srgbClr val="008800"/>
                </a:solidFill>
              </a:rPr>
              <a:t>Solution 2:</a:t>
            </a:r>
            <a:endParaRPr lang="en-US" sz="2200" dirty="0"/>
          </a:p>
          <a:p>
            <a:pPr indent="0" marL="0">
              <a:buNone/>
            </a:pPr>
            <a:r>
              <a:rPr lang="en-US" sz="2200" dirty="0">
                <a:solidFill>
                  <a:srgbClr val="363636"/>
                </a:solidFill>
              </a:rPr>
              <a:t> Standardized Zod schemas to match database requirements and gracefully handled API limits by showing users clear error messages.</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3600" b="1" dirty="0">
                <a:solidFill>
                  <a:srgbClr val="0B3D91"/>
                </a:solidFill>
              </a:rPr>
              <a:t>Conclusion &amp; Future Scope</a:t>
            </a:r>
            <a:endParaRPr lang="en-US" sz="3600" dirty="0"/>
          </a:p>
        </p:txBody>
      </p:sp>
      <p:sp>
        <p:nvSpPr>
          <p:cNvPr id="3" name="Text 1"/>
          <p:cNvSpPr/>
          <p:nvPr/>
        </p:nvSpPr>
        <p:spPr>
          <a:xfrm>
            <a:off x="457200" y="1645920"/>
            <a:ext cx="8229600" cy="3657600"/>
          </a:xfrm>
          <a:prstGeom prst="rect">
            <a:avLst/>
          </a:prstGeom>
          <a:noFill/>
          <a:ln/>
        </p:spPr>
        <p:txBody>
          <a:bodyPr wrap="square" rtlCol="0" anchor="t"/>
          <a:lstStyle/>
          <a:p>
            <a:pPr marL="342900" indent="-342900">
              <a:buSzPct val="100000"/>
              <a:buChar char="•"/>
            </a:pPr>
            <a:r>
              <a:rPr lang="en-US" sz="2200" b="1" dirty="0">
                <a:solidFill>
                  <a:srgbClr val="363636"/>
                </a:solidFill>
              </a:rPr>
              <a:t>Summary:</a:t>
            </a:r>
            <a:pPr indent="0" marL="0">
              <a:buNone/>
            </a:pPr>
            <a:r>
              <a:rPr lang="en-US" sz="2200" dirty="0">
                <a:solidFill>
                  <a:srgbClr val="363636"/>
                </a:solidFill>
              </a:rPr>
              <a:t> A secure, scalable, and highly relational backend powering CareerLink Nepal.</a:t>
            </a:r>
            <a:pPr indent="0" marL="0">
              <a:buNone/>
            </a:pPr>
            <a:endParaRPr lang="en-US" sz="2200" dirty="0"/>
          </a:p>
          <a:p>
            <a:pPr indent="0" marL="0">
              <a:buNone/>
            </a:pPr>
            <a:r>
              <a:rPr lang="en-US" sz="2200" b="1" dirty="0">
                <a:solidFill>
                  <a:srgbClr val="363636"/>
                </a:solidFill>
              </a:rPr>
              <a:t>Future Scope 1:</a:t>
            </a:r>
            <a:endParaRPr lang="en-US" sz="2200" dirty="0"/>
          </a:p>
          <a:p>
            <a:pPr indent="0" marL="0">
              <a:buNone/>
            </a:pPr>
            <a:r>
              <a:rPr lang="en-US" sz="2200" dirty="0">
                <a:solidFill>
                  <a:srgbClr val="363636"/>
                </a:solidFill>
              </a:rPr>
              <a:t> Implementing real-time WebSockets for instant messaging and live notifications.</a:t>
            </a:r>
            <a:pPr indent="0" marL="0">
              <a:buNone/>
            </a:pPr>
            <a:endParaRPr lang="en-US" sz="2200" dirty="0"/>
          </a:p>
          <a:p>
            <a:pPr indent="0" marL="0">
              <a:buNone/>
            </a:pPr>
            <a:r>
              <a:rPr lang="en-US" sz="2200" b="1" dirty="0">
                <a:solidFill>
                  <a:srgbClr val="363636"/>
                </a:solidFill>
              </a:rPr>
              <a:t>Future Scope 2:</a:t>
            </a:r>
            <a:endParaRPr lang="en-US" sz="2200" dirty="0"/>
          </a:p>
          <a:p>
            <a:pPr indent="0" marL="0">
              <a:buNone/>
            </a:pPr>
            <a:r>
              <a:rPr lang="en-US" sz="2200" dirty="0">
                <a:solidFill>
                  <a:srgbClr val="363636"/>
                </a:solidFill>
              </a:rPr>
              <a:t> Adding database indexing to speed up complex search queries.</a:t>
            </a:r>
            <a:pPr indent="0" marL="0">
              <a:buNone/>
            </a:pPr>
            <a:endParaRPr lang="en-US" sz="2200" dirty="0"/>
          </a:p>
          <a:p>
            <a:pPr indent="0" marL="0">
              <a:buNone/>
            </a:pPr>
            <a:r>
              <a:rPr lang="en-US" sz="2200" b="1" dirty="0">
                <a:solidFill>
                  <a:srgbClr val="363636"/>
                </a:solidFill>
              </a:rPr>
              <a:t>Future Scope 3:</a:t>
            </a:r>
            <a:endParaRPr lang="en-US" sz="2200" dirty="0"/>
          </a:p>
          <a:p>
            <a:pPr indent="0" marL="0">
              <a:buNone/>
            </a:pPr>
            <a:r>
              <a:rPr lang="en-US" sz="2200" dirty="0">
                <a:solidFill>
                  <a:srgbClr val="363636"/>
                </a:solidFill>
              </a:rPr>
              <a:t> Expanding Role-Based Access Control (RBAC) for community moderators.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2026-08-12T04:10:13Z</dcterms:created>
  <dcterms:modified xsi:type="dcterms:W3CDTF">2026-08-12T04:10:13Z</dcterms:modified>
</cp:coreProperties>
</file>