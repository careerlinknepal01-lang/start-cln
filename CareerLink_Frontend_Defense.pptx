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everyone. Today I will be presenting the frontend architecture and implementation for CareerLink Nepal, our modern, responsive platform designed for students and young professionals.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our frontend, we chose a modern stack: React powered by Vite. Vite gives us incredibly fast hot-module reloading during development. We wrote the entire codebase in TypeScript to ensure strict type safety, which eliminates a large class of bugs, and we styled everything using Tailwind CSS for a scalable, utility-first approach.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maintain a consistent and professional look, we used shadcn/ui built on top of Radix UI. This allows us to have beautifully designed components that are fully accessible for all users out of the box. We also took a mobile-first approach, meaning the platform looks and functions perfectly on both phones and desktops.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Navigation is handled by React Router. We implemented strong frontend security using Protected Routes, automatically redirecting logged-out users away from private content like the feed or profile. We also utilized React's lazy loading to code-split our routes, so the browser only downloads the code it needs for the page you are viewing, drastically improving load speed.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Managing data efficiently is critical. We used TanStack React Query to handle all our server state—it caches data so we don't have to re-fetch the same posts constantly. For local, app-wide state like whether a user is logged in, we used the React Context API. We also heavily utilize optimistic UI updates, so when you interact with something, the UI reacts instantly without waiting for the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platform has many forms, like signup, creating posts, and updating profiles. We used React Hook Form combined with Zod for validation. This combination is extremely performant because it prevents the entire page from re-rendering every time you type a letter, while simultaneously providing instant, strict error feedback if the data is invalid.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major challenge was keeping our UI components clean while handling complex form logic. We solved this by abstracting our logic into custom hooks. Another challenge was performance as the app grew; we mitigated this by implementing route-level lazy loading and aggressive caching with React Query.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we have built a highly responsive, accessible, and robust frontend. Moving forward, we plan to implement full Dark Mode support, add Progressive Web App capabilities so users can install it on their phones, and polish the UI with smoother micro-animations. Thank you for listening, I am open to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914400" y="1828800"/>
            <a:ext cx="7315200" cy="914400"/>
          </a:xfrm>
          <a:prstGeom prst="rect">
            <a:avLst/>
          </a:prstGeom>
          <a:noFill/>
          <a:ln/>
        </p:spPr>
        <p:txBody>
          <a:bodyPr wrap="square" rtlCol="0" anchor="ctr"/>
          <a:lstStyle/>
          <a:p>
            <a:pPr algn="ctr" indent="0" marL="0">
              <a:buNone/>
            </a:pPr>
            <a:r>
              <a:rPr lang="en-US" sz="4800" b="1" dirty="0">
                <a:solidFill>
                  <a:srgbClr val="0B3D91"/>
                </a:solidFill>
              </a:rPr>
              <a:t>CareerLink Nepal</a:t>
            </a:r>
            <a:endParaRPr lang="en-US" sz="4800" dirty="0"/>
          </a:p>
        </p:txBody>
      </p:sp>
      <p:sp>
        <p:nvSpPr>
          <p:cNvPr id="3" name="Text 1"/>
          <p:cNvSpPr/>
          <p:nvPr/>
        </p:nvSpPr>
        <p:spPr>
          <a:xfrm>
            <a:off x="914400" y="2743200"/>
            <a:ext cx="7315200" cy="914400"/>
          </a:xfrm>
          <a:prstGeom prst="rect">
            <a:avLst/>
          </a:prstGeom>
          <a:noFill/>
          <a:ln/>
        </p:spPr>
        <p:txBody>
          <a:bodyPr wrap="square" rtlCol="0" anchor="ctr"/>
          <a:lstStyle/>
          <a:p>
            <a:pPr algn="ctr" indent="0" marL="0">
              <a:buNone/>
            </a:pPr>
            <a:r>
              <a:rPr lang="en-US" sz="2800" dirty="0">
                <a:solidFill>
                  <a:srgbClr val="687A95"/>
                </a:solidFill>
              </a:rPr>
              <a:t>Frontend Architecture - Project Defense</a:t>
            </a:r>
            <a:endParaRPr lang="en-US"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457200"/>
            <a:ext cx="8229600" cy="914400"/>
          </a:xfrm>
          <a:prstGeom prst="rect">
            <a:avLst/>
          </a:prstGeom>
          <a:noFill/>
          <a:ln/>
        </p:spPr>
        <p:txBody>
          <a:bodyPr wrap="square" rtlCol="0" anchor="ctr"/>
          <a:lstStyle/>
          <a:p>
            <a:pPr indent="0" marL="0">
              <a:buNone/>
            </a:pPr>
            <a:r>
              <a:rPr lang="en-US" sz="3600" b="1" dirty="0">
                <a:solidFill>
                  <a:srgbClr val="0B3D91"/>
                </a:solidFill>
              </a:rPr>
              <a:t>Frontend Architecture Overview</a:t>
            </a:r>
            <a:endParaRPr lang="en-US" sz="3600" dirty="0"/>
          </a:p>
        </p:txBody>
      </p:sp>
      <p:sp>
        <p:nvSpPr>
          <p:cNvPr id="3" name="Text 1"/>
          <p:cNvSpPr/>
          <p:nvPr/>
        </p:nvSpPr>
        <p:spPr>
          <a:xfrm>
            <a:off x="457200" y="1645920"/>
            <a:ext cx="8229600" cy="3657600"/>
          </a:xfrm>
          <a:prstGeom prst="rect">
            <a:avLst/>
          </a:prstGeom>
          <a:noFill/>
          <a:ln/>
        </p:spPr>
        <p:txBody>
          <a:bodyPr wrap="square" rtlCol="0" anchor="t"/>
          <a:lstStyle/>
          <a:p>
            <a:pPr marL="342900" indent="-342900">
              <a:buSzPct val="100000"/>
              <a:buChar char="•"/>
            </a:pPr>
            <a:r>
              <a:rPr lang="en-US" sz="2200" b="1" dirty="0">
                <a:solidFill>
                  <a:srgbClr val="363636"/>
                </a:solidFill>
              </a:rPr>
              <a:t>Core Framework:</a:t>
            </a:r>
            <a:pPr indent="0" marL="0">
              <a:buNone/>
            </a:pPr>
            <a:r>
              <a:rPr lang="en-US" sz="2200" dirty="0">
                <a:solidFill>
                  <a:srgbClr val="363636"/>
                </a:solidFill>
              </a:rPr>
              <a:t> React 18 for building dynamic user interfaces</a:t>
            </a:r>
            <a:pPr indent="0" marL="0">
              <a:buNone/>
            </a:pPr>
            <a:endParaRPr lang="en-US" sz="2200" dirty="0"/>
          </a:p>
          <a:p>
            <a:pPr indent="0" marL="0">
              <a:buNone/>
            </a:pPr>
            <a:r>
              <a:rPr lang="en-US" sz="2200" b="1" dirty="0">
                <a:solidFill>
                  <a:srgbClr val="363636"/>
                </a:solidFill>
              </a:rPr>
              <a:t>Build Tool:</a:t>
            </a:r>
            <a:endParaRPr lang="en-US" sz="2200" dirty="0"/>
          </a:p>
          <a:p>
            <a:pPr indent="0" marL="0">
              <a:buNone/>
            </a:pPr>
            <a:r>
              <a:rPr lang="en-US" sz="2200" dirty="0">
                <a:solidFill>
                  <a:srgbClr val="363636"/>
                </a:solidFill>
              </a:rPr>
              <a:t> Vite for rapid development and optimized production builds</a:t>
            </a:r>
            <a:pPr indent="0" marL="0">
              <a:buNone/>
            </a:pPr>
            <a:endParaRPr lang="en-US" sz="2200" dirty="0"/>
          </a:p>
          <a:p>
            <a:pPr indent="0" marL="0">
              <a:buNone/>
            </a:pPr>
            <a:r>
              <a:rPr lang="en-US" sz="2200" b="1" dirty="0">
                <a:solidFill>
                  <a:srgbClr val="363636"/>
                </a:solidFill>
              </a:rPr>
              <a:t>Language:</a:t>
            </a:r>
            <a:endParaRPr lang="en-US" sz="2200" dirty="0"/>
          </a:p>
          <a:p>
            <a:pPr indent="0" marL="0">
              <a:buNone/>
            </a:pPr>
            <a:r>
              <a:rPr lang="en-US" sz="2200" dirty="0">
                <a:solidFill>
                  <a:srgbClr val="363636"/>
                </a:solidFill>
              </a:rPr>
              <a:t> TypeScript for strict type safety and fewer runtime errors</a:t>
            </a:r>
            <a:pPr indent="0" marL="0">
              <a:buNone/>
            </a:pPr>
            <a:endParaRPr lang="en-US" sz="2200" dirty="0"/>
          </a:p>
          <a:p>
            <a:pPr indent="0" marL="0">
              <a:buNone/>
            </a:pPr>
            <a:r>
              <a:rPr lang="en-US" sz="2200" b="1" dirty="0">
                <a:solidFill>
                  <a:srgbClr val="363636"/>
                </a:solidFill>
              </a:rPr>
              <a:t>Styling:</a:t>
            </a:r>
            <a:endParaRPr lang="en-US" sz="2200" dirty="0"/>
          </a:p>
          <a:p>
            <a:pPr indent="0" marL="0">
              <a:buNone/>
            </a:pPr>
            <a:r>
              <a:rPr lang="en-US" sz="2200" dirty="0">
                <a:solidFill>
                  <a:srgbClr val="363636"/>
                </a:solidFill>
              </a:rPr>
              <a:t> Tailwind CSS for utility-first, highly customizable styling</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457200"/>
            <a:ext cx="8229600" cy="914400"/>
          </a:xfrm>
          <a:prstGeom prst="rect">
            <a:avLst/>
          </a:prstGeom>
          <a:noFill/>
          <a:ln/>
        </p:spPr>
        <p:txBody>
          <a:bodyPr wrap="square" rtlCol="0" anchor="ctr"/>
          <a:lstStyle/>
          <a:p>
            <a:pPr indent="0" marL="0">
              <a:buNone/>
            </a:pPr>
            <a:r>
              <a:rPr lang="en-US" sz="3600" b="1" dirty="0">
                <a:solidFill>
                  <a:srgbClr val="0B3D91"/>
                </a:solidFill>
              </a:rPr>
              <a:t>UI &amp; Design System</a:t>
            </a:r>
            <a:endParaRPr lang="en-US" sz="3600" dirty="0"/>
          </a:p>
        </p:txBody>
      </p:sp>
      <p:sp>
        <p:nvSpPr>
          <p:cNvPr id="3" name="Text 1"/>
          <p:cNvSpPr/>
          <p:nvPr/>
        </p:nvSpPr>
        <p:spPr>
          <a:xfrm>
            <a:off x="457200" y="1645920"/>
            <a:ext cx="8229600" cy="3657600"/>
          </a:xfrm>
          <a:prstGeom prst="rect">
            <a:avLst/>
          </a:prstGeom>
          <a:noFill/>
          <a:ln/>
        </p:spPr>
        <p:txBody>
          <a:bodyPr wrap="square" rtlCol="0" anchor="t"/>
          <a:lstStyle/>
          <a:p>
            <a:pPr marL="342900" indent="-342900">
              <a:buSzPct val="100000"/>
              <a:buChar char="•"/>
            </a:pPr>
            <a:r>
              <a:rPr lang="en-US" sz="2200" b="1" dirty="0">
                <a:solidFill>
                  <a:srgbClr val="363636"/>
                </a:solidFill>
              </a:rPr>
              <a:t>Component Library:</a:t>
            </a:r>
            <a:pPr indent="0" marL="0">
              <a:buNone/>
            </a:pPr>
            <a:r>
              <a:rPr lang="en-US" sz="2200" dirty="0">
                <a:solidFill>
                  <a:srgbClr val="363636"/>
                </a:solidFill>
              </a:rPr>
              <a:t> shadcn/ui and Radix UI primitives</a:t>
            </a:r>
            <a:pPr indent="0" marL="0">
              <a:buNone/>
            </a:pPr>
            <a:endParaRPr lang="en-US" sz="2200" dirty="0"/>
          </a:p>
          <a:p>
            <a:pPr indent="0" marL="0">
              <a:buNone/>
            </a:pPr>
            <a:r>
              <a:rPr lang="en-US" sz="2200" b="1" dirty="0">
                <a:solidFill>
                  <a:srgbClr val="363636"/>
                </a:solidFill>
              </a:rPr>
              <a:t>Accessibility (a11y):</a:t>
            </a:r>
            <a:endParaRPr lang="en-US" sz="2200" dirty="0"/>
          </a:p>
          <a:p>
            <a:pPr indent="0" marL="0">
              <a:buNone/>
            </a:pPr>
            <a:r>
              <a:rPr lang="en-US" sz="2200" dirty="0">
                <a:solidFill>
                  <a:srgbClr val="363636"/>
                </a:solidFill>
              </a:rPr>
              <a:t> Fully accessible components compliant with ARIA standards</a:t>
            </a:r>
            <a:pPr indent="0" marL="0">
              <a:buNone/>
            </a:pPr>
            <a:endParaRPr lang="en-US" sz="2200" dirty="0"/>
          </a:p>
          <a:p>
            <a:pPr indent="0" marL="0">
              <a:buNone/>
            </a:pPr>
            <a:r>
              <a:rPr lang="en-US" sz="2200" b="1" dirty="0">
                <a:solidFill>
                  <a:srgbClr val="363636"/>
                </a:solidFill>
              </a:rPr>
              <a:t>Theming:</a:t>
            </a:r>
            <a:endParaRPr lang="en-US" sz="2200" dirty="0"/>
          </a:p>
          <a:p>
            <a:pPr indent="0" marL="0">
              <a:buNone/>
            </a:pPr>
            <a:r>
              <a:rPr lang="en-US" sz="2200" dirty="0">
                <a:solidFill>
                  <a:srgbClr val="363636"/>
                </a:solidFill>
              </a:rPr>
              <a:t> Centralized design tokens (colors, typography) via Tailwind config</a:t>
            </a:r>
            <a:pPr indent="0" marL="0">
              <a:buNone/>
            </a:pPr>
            <a:endParaRPr lang="en-US" sz="2200" dirty="0"/>
          </a:p>
          <a:p>
            <a:pPr indent="0" marL="0">
              <a:buNone/>
            </a:pPr>
            <a:r>
              <a:rPr lang="en-US" sz="2200" b="1" dirty="0">
                <a:solidFill>
                  <a:srgbClr val="363636"/>
                </a:solidFill>
              </a:rPr>
              <a:t>Responsiveness:</a:t>
            </a:r>
            <a:endParaRPr lang="en-US" sz="2200" dirty="0"/>
          </a:p>
          <a:p>
            <a:pPr indent="0" marL="0">
              <a:buNone/>
            </a:pPr>
            <a:r>
              <a:rPr lang="en-US" sz="2200" dirty="0">
                <a:solidFill>
                  <a:srgbClr val="363636"/>
                </a:solidFill>
              </a:rPr>
              <a:t> Mobile-first design approach ensuring perfect rendering across all devices</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457200"/>
            <a:ext cx="8229600" cy="914400"/>
          </a:xfrm>
          <a:prstGeom prst="rect">
            <a:avLst/>
          </a:prstGeom>
          <a:noFill/>
          <a:ln/>
        </p:spPr>
        <p:txBody>
          <a:bodyPr wrap="square" rtlCol="0" anchor="ctr"/>
          <a:lstStyle/>
          <a:p>
            <a:pPr indent="0" marL="0">
              <a:buNone/>
            </a:pPr>
            <a:r>
              <a:rPr lang="en-US" sz="3600" b="1" dirty="0">
                <a:solidFill>
                  <a:srgbClr val="0B3D91"/>
                </a:solidFill>
              </a:rPr>
              <a:t>Routing &amp; Navigation</a:t>
            </a:r>
            <a:endParaRPr lang="en-US" sz="3600" dirty="0"/>
          </a:p>
        </p:txBody>
      </p:sp>
      <p:sp>
        <p:nvSpPr>
          <p:cNvPr id="3" name="Text 1"/>
          <p:cNvSpPr/>
          <p:nvPr/>
        </p:nvSpPr>
        <p:spPr>
          <a:xfrm>
            <a:off x="457200" y="1645920"/>
            <a:ext cx="8229600" cy="3657600"/>
          </a:xfrm>
          <a:prstGeom prst="rect">
            <a:avLst/>
          </a:prstGeom>
          <a:noFill/>
          <a:ln/>
        </p:spPr>
        <p:txBody>
          <a:bodyPr wrap="square" rtlCol="0" anchor="t"/>
          <a:lstStyle/>
          <a:p>
            <a:pPr marL="342900" indent="-342900">
              <a:buSzPct val="100000"/>
              <a:buChar char="•"/>
            </a:pPr>
            <a:r>
              <a:rPr lang="en-US" sz="2200" b="1" dirty="0">
                <a:solidFill>
                  <a:srgbClr val="363636"/>
                </a:solidFill>
              </a:rPr>
              <a:t>Router:</a:t>
            </a:r>
            <a:pPr indent="0" marL="0">
              <a:buNone/>
            </a:pPr>
            <a:r>
              <a:rPr lang="en-US" sz="2200" dirty="0">
                <a:solidFill>
                  <a:srgbClr val="363636"/>
                </a:solidFill>
              </a:rPr>
              <a:t> React Router DOM for seamless Single Page Application (SPA) navigation</a:t>
            </a:r>
            <a:pPr indent="0" marL="0">
              <a:buNone/>
            </a:pPr>
            <a:endParaRPr lang="en-US" sz="2200" dirty="0"/>
          </a:p>
          <a:p>
            <a:pPr indent="0" marL="0">
              <a:buNone/>
            </a:pPr>
            <a:r>
              <a:rPr lang="en-US" sz="2200" b="1" dirty="0">
                <a:solidFill>
                  <a:srgbClr val="363636"/>
                </a:solidFill>
              </a:rPr>
              <a:t>Protected Routes:</a:t>
            </a:r>
            <a:endParaRPr lang="en-US" sz="2200" dirty="0"/>
          </a:p>
          <a:p>
            <a:pPr indent="0" marL="0">
              <a:buNone/>
            </a:pPr>
            <a:r>
              <a:rPr lang="en-US" sz="2200" dirty="0">
                <a:solidFill>
                  <a:srgbClr val="363636"/>
                </a:solidFill>
              </a:rPr>
              <a:t> Custom wrappers to block unauthenticated users from private areas</a:t>
            </a:r>
            <a:pPr indent="0" marL="0">
              <a:buNone/>
            </a:pPr>
            <a:endParaRPr lang="en-US" sz="2200" dirty="0"/>
          </a:p>
          <a:p>
            <a:pPr indent="0" marL="0">
              <a:buNone/>
            </a:pPr>
            <a:r>
              <a:rPr lang="en-US" sz="2200" b="1" dirty="0">
                <a:solidFill>
                  <a:srgbClr val="363636"/>
                </a:solidFill>
              </a:rPr>
              <a:t>Role-based Access:</a:t>
            </a:r>
            <a:endParaRPr lang="en-US" sz="2200" dirty="0"/>
          </a:p>
          <a:p>
            <a:pPr indent="0" marL="0">
              <a:buNone/>
            </a:pPr>
            <a:r>
              <a:rPr lang="en-US" sz="2200" dirty="0">
                <a:solidFill>
                  <a:srgbClr val="363636"/>
                </a:solidFill>
              </a:rPr>
              <a:t> Dedicated Admin routes isolated from standard user views</a:t>
            </a:r>
            <a:pPr indent="0" marL="0">
              <a:buNone/>
            </a:pPr>
            <a:endParaRPr lang="en-US" sz="2200" dirty="0"/>
          </a:p>
          <a:p>
            <a:pPr indent="0" marL="0">
              <a:buNone/>
            </a:pPr>
            <a:r>
              <a:rPr lang="en-US" sz="2200" b="1" dirty="0">
                <a:solidFill>
                  <a:srgbClr val="363636"/>
                </a:solidFill>
              </a:rPr>
              <a:t>Code Splitting:</a:t>
            </a:r>
            <a:endParaRPr lang="en-US" sz="2200" dirty="0"/>
          </a:p>
          <a:p>
            <a:pPr indent="0" marL="0">
              <a:buNone/>
            </a:pPr>
            <a:r>
              <a:rPr lang="en-US" sz="2200" dirty="0">
                <a:solidFill>
                  <a:srgbClr val="363636"/>
                </a:solidFill>
              </a:rPr>
              <a:t> Lazy loading routes (Suspense) to reduce initial load times</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457200"/>
            <a:ext cx="8229600" cy="914400"/>
          </a:xfrm>
          <a:prstGeom prst="rect">
            <a:avLst/>
          </a:prstGeom>
          <a:noFill/>
          <a:ln/>
        </p:spPr>
        <p:txBody>
          <a:bodyPr wrap="square" rtlCol="0" anchor="ctr"/>
          <a:lstStyle/>
          <a:p>
            <a:pPr indent="0" marL="0">
              <a:buNone/>
            </a:pPr>
            <a:r>
              <a:rPr lang="en-US" sz="3600" b="1" dirty="0">
                <a:solidFill>
                  <a:srgbClr val="0B3D91"/>
                </a:solidFill>
              </a:rPr>
              <a:t>State Management &amp; Data Fetching</a:t>
            </a:r>
            <a:endParaRPr lang="en-US" sz="3600" dirty="0"/>
          </a:p>
        </p:txBody>
      </p:sp>
      <p:sp>
        <p:nvSpPr>
          <p:cNvPr id="3" name="Text 1"/>
          <p:cNvSpPr/>
          <p:nvPr/>
        </p:nvSpPr>
        <p:spPr>
          <a:xfrm>
            <a:off x="457200" y="1645920"/>
            <a:ext cx="8229600" cy="3657600"/>
          </a:xfrm>
          <a:prstGeom prst="rect">
            <a:avLst/>
          </a:prstGeom>
          <a:noFill/>
          <a:ln/>
        </p:spPr>
        <p:txBody>
          <a:bodyPr wrap="square" rtlCol="0" anchor="t"/>
          <a:lstStyle/>
          <a:p>
            <a:pPr marL="342900" indent="-342900">
              <a:buSzPct val="100000"/>
              <a:buChar char="•"/>
            </a:pPr>
            <a:r>
              <a:rPr lang="en-US" sz="2200" b="1" dirty="0">
                <a:solidFill>
                  <a:srgbClr val="363636"/>
                </a:solidFill>
              </a:rPr>
              <a:t>Server State:</a:t>
            </a:r>
            <a:pPr indent="0" marL="0">
              <a:buNone/>
            </a:pPr>
            <a:r>
              <a:rPr lang="en-US" sz="2200" dirty="0">
                <a:solidFill>
                  <a:srgbClr val="363636"/>
                </a:solidFill>
              </a:rPr>
              <a:t> TanStack React Query for fetching, caching, and synchronizing data</a:t>
            </a:r>
            <a:pPr indent="0" marL="0">
              <a:buNone/>
            </a:pPr>
            <a:endParaRPr lang="en-US" sz="2200" dirty="0"/>
          </a:p>
          <a:p>
            <a:pPr indent="0" marL="0">
              <a:buNone/>
            </a:pPr>
            <a:r>
              <a:rPr lang="en-US" sz="2200" b="1" dirty="0">
                <a:solidFill>
                  <a:srgbClr val="363636"/>
                </a:solidFill>
              </a:rPr>
              <a:t>Local State:</a:t>
            </a:r>
            <a:endParaRPr lang="en-US" sz="2200" dirty="0"/>
          </a:p>
          <a:p>
            <a:pPr indent="0" marL="0">
              <a:buNone/>
            </a:pPr>
            <a:r>
              <a:rPr lang="en-US" sz="2200" dirty="0">
                <a:solidFill>
                  <a:srgbClr val="363636"/>
                </a:solidFill>
              </a:rPr>
              <a:t> React Context API for global state (e.g., AuthProvider for user sessions)</a:t>
            </a:r>
            <a:pPr indent="0" marL="0">
              <a:buNone/>
            </a:pPr>
            <a:endParaRPr lang="en-US" sz="2200" dirty="0"/>
          </a:p>
          <a:p>
            <a:pPr indent="0" marL="0">
              <a:buNone/>
            </a:pPr>
            <a:r>
              <a:rPr lang="en-US" sz="2200" b="1" dirty="0">
                <a:solidFill>
                  <a:srgbClr val="363636"/>
                </a:solidFill>
              </a:rPr>
              <a:t>Optimistic Updates:</a:t>
            </a:r>
            <a:endParaRPr lang="en-US" sz="2200" dirty="0"/>
          </a:p>
          <a:p>
            <a:pPr indent="0" marL="0">
              <a:buNone/>
            </a:pPr>
            <a:r>
              <a:rPr lang="en-US" sz="2200" dirty="0">
                <a:solidFill>
                  <a:srgbClr val="363636"/>
                </a:solidFill>
              </a:rPr>
              <a:t> Updating the UI instantly before the server responds for a snappy feel</a:t>
            </a:r>
            <a:pPr indent="0" marL="0">
              <a:buNone/>
            </a:pPr>
            <a:endParaRPr lang="en-US" sz="2200" dirty="0"/>
          </a:p>
          <a:p>
            <a:pPr indent="0" marL="0">
              <a:buNone/>
            </a:pPr>
            <a:r>
              <a:rPr lang="en-US" sz="2200" b="1" dirty="0">
                <a:solidFill>
                  <a:srgbClr val="363636"/>
                </a:solidFill>
              </a:rPr>
              <a:t>Data Mutability:</a:t>
            </a:r>
            <a:endParaRPr lang="en-US" sz="2200" dirty="0"/>
          </a:p>
          <a:p>
            <a:pPr indent="0" marL="0">
              <a:buNone/>
            </a:pPr>
            <a:r>
              <a:rPr lang="en-US" sz="2200" dirty="0">
                <a:solidFill>
                  <a:srgbClr val="363636"/>
                </a:solidFill>
              </a:rPr>
              <a:t> Seamless integration with Supabase client to fetch real-time data</a:t>
            </a:r>
            <a:endParaRPr lang="en-US"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457200"/>
            <a:ext cx="8229600" cy="914400"/>
          </a:xfrm>
          <a:prstGeom prst="rect">
            <a:avLst/>
          </a:prstGeom>
          <a:noFill/>
          <a:ln/>
        </p:spPr>
        <p:txBody>
          <a:bodyPr wrap="square" rtlCol="0" anchor="ctr"/>
          <a:lstStyle/>
          <a:p>
            <a:pPr indent="0" marL="0">
              <a:buNone/>
            </a:pPr>
            <a:r>
              <a:rPr lang="en-US" sz="3600" b="1" dirty="0">
                <a:solidFill>
                  <a:srgbClr val="0B3D91"/>
                </a:solidFill>
              </a:rPr>
              <a:t>Form Handling &amp; Validation</a:t>
            </a:r>
            <a:endParaRPr lang="en-US" sz="3600" dirty="0"/>
          </a:p>
        </p:txBody>
      </p:sp>
      <p:sp>
        <p:nvSpPr>
          <p:cNvPr id="3" name="Text 1"/>
          <p:cNvSpPr/>
          <p:nvPr/>
        </p:nvSpPr>
        <p:spPr>
          <a:xfrm>
            <a:off x="457200" y="1645920"/>
            <a:ext cx="8229600" cy="3657600"/>
          </a:xfrm>
          <a:prstGeom prst="rect">
            <a:avLst/>
          </a:prstGeom>
          <a:noFill/>
          <a:ln/>
        </p:spPr>
        <p:txBody>
          <a:bodyPr wrap="square" rtlCol="0" anchor="t"/>
          <a:lstStyle/>
          <a:p>
            <a:pPr marL="342900" indent="-342900">
              <a:buSzPct val="100000"/>
              <a:buChar char="•"/>
            </a:pPr>
            <a:r>
              <a:rPr lang="en-US" sz="2200" b="1" dirty="0">
                <a:solidFill>
                  <a:srgbClr val="363636"/>
                </a:solidFill>
              </a:rPr>
              <a:t>Form State:</a:t>
            </a:r>
            <a:pPr indent="0" marL="0">
              <a:buNone/>
            </a:pPr>
            <a:r>
              <a:rPr lang="en-US" sz="2200" dirty="0">
                <a:solidFill>
                  <a:srgbClr val="363636"/>
                </a:solidFill>
              </a:rPr>
              <a:t> React Hook Form for performant, uncontrolled form inputs</a:t>
            </a:r>
            <a:pPr indent="0" marL="0">
              <a:buNone/>
            </a:pPr>
            <a:endParaRPr lang="en-US" sz="2200" dirty="0"/>
          </a:p>
          <a:p>
            <a:pPr indent="0" marL="0">
              <a:buNone/>
            </a:pPr>
            <a:r>
              <a:rPr lang="en-US" sz="2200" b="1" dirty="0">
                <a:solidFill>
                  <a:srgbClr val="363636"/>
                </a:solidFill>
              </a:rPr>
              <a:t>Validation Engine:</a:t>
            </a:r>
            <a:endParaRPr lang="en-US" sz="2200" dirty="0"/>
          </a:p>
          <a:p>
            <a:pPr indent="0" marL="0">
              <a:buNone/>
            </a:pPr>
            <a:r>
              <a:rPr lang="en-US" sz="2200" dirty="0">
                <a:solidFill>
                  <a:srgbClr val="363636"/>
                </a:solidFill>
              </a:rPr>
              <a:t> Zod for strict, schema-based data validation</a:t>
            </a:r>
            <a:pPr indent="0" marL="0">
              <a:buNone/>
            </a:pPr>
            <a:endParaRPr lang="en-US" sz="2200" dirty="0"/>
          </a:p>
          <a:p>
            <a:pPr indent="0" marL="0">
              <a:buNone/>
            </a:pPr>
            <a:r>
              <a:rPr lang="en-US" sz="2200" b="1" dirty="0">
                <a:solidFill>
                  <a:srgbClr val="363636"/>
                </a:solidFill>
              </a:rPr>
              <a:t>User Experience:</a:t>
            </a:r>
            <a:endParaRPr lang="en-US" sz="2200" dirty="0"/>
          </a:p>
          <a:p>
            <a:pPr indent="0" marL="0">
              <a:buNone/>
            </a:pPr>
            <a:r>
              <a:rPr lang="en-US" sz="2200" dirty="0">
                <a:solidFill>
                  <a:srgbClr val="363636"/>
                </a:solidFill>
              </a:rPr>
              <a:t> Real-time error feedback without unnecessary re-renders</a:t>
            </a:r>
            <a:pPr indent="0" marL="0">
              <a:buNone/>
            </a:pPr>
            <a:endParaRPr lang="en-US" sz="2200" dirty="0"/>
          </a:p>
          <a:p>
            <a:pPr indent="0" marL="0">
              <a:buNone/>
            </a:pPr>
            <a:r>
              <a:rPr lang="en-US" sz="2200" b="1" dirty="0">
                <a:solidFill>
                  <a:srgbClr val="363636"/>
                </a:solidFill>
              </a:rPr>
              <a:t>Security:</a:t>
            </a:r>
            <a:endParaRPr lang="en-US" sz="2200" dirty="0"/>
          </a:p>
          <a:p>
            <a:pPr indent="0" marL="0">
              <a:buNone/>
            </a:pPr>
            <a:r>
              <a:rPr lang="en-US" sz="2200" dirty="0">
                <a:solidFill>
                  <a:srgbClr val="363636"/>
                </a:solidFill>
              </a:rPr>
              <a:t> Enforcing complex password policies and preventing bad data submission</a:t>
            </a:r>
            <a:endParaRPr lang="en-US"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457200"/>
            <a:ext cx="8229600" cy="914400"/>
          </a:xfrm>
          <a:prstGeom prst="rect">
            <a:avLst/>
          </a:prstGeom>
          <a:noFill/>
          <a:ln/>
        </p:spPr>
        <p:txBody>
          <a:bodyPr wrap="square" rtlCol="0" anchor="ctr"/>
          <a:lstStyle/>
          <a:p>
            <a:pPr indent="0" marL="0">
              <a:buNone/>
            </a:pPr>
            <a:r>
              <a:rPr lang="en-US" sz="3600" b="1" dirty="0">
                <a:solidFill>
                  <a:srgbClr val="0B3D91"/>
                </a:solidFill>
              </a:rPr>
              <a:t>Challenges &amp; Solutions</a:t>
            </a:r>
            <a:endParaRPr lang="en-US" sz="3600" dirty="0"/>
          </a:p>
        </p:txBody>
      </p:sp>
      <p:sp>
        <p:nvSpPr>
          <p:cNvPr id="3" name="Text 1"/>
          <p:cNvSpPr/>
          <p:nvPr/>
        </p:nvSpPr>
        <p:spPr>
          <a:xfrm>
            <a:off x="457200" y="1645920"/>
            <a:ext cx="8229600" cy="3657600"/>
          </a:xfrm>
          <a:prstGeom prst="rect">
            <a:avLst/>
          </a:prstGeom>
          <a:noFill/>
          <a:ln/>
        </p:spPr>
        <p:txBody>
          <a:bodyPr wrap="square" rtlCol="0" anchor="t"/>
          <a:lstStyle/>
          <a:p>
            <a:pPr marL="342900" indent="-342900">
              <a:buSzPct val="100000"/>
              <a:buChar char="•"/>
            </a:pPr>
            <a:r>
              <a:rPr lang="en-US" sz="2200" b="1" dirty="0">
                <a:solidFill>
                  <a:srgbClr val="363636"/>
                </a:solidFill>
              </a:rPr>
              <a:t>Challenge 1:</a:t>
            </a:r>
            <a:pPr indent="0" marL="0">
              <a:buNone/>
            </a:pPr>
            <a:r>
              <a:rPr lang="en-US" sz="2200" dirty="0">
                <a:solidFill>
                  <a:srgbClr val="363636"/>
                </a:solidFill>
              </a:rPr>
              <a:t> Managing complex form states and validation mappings.</a:t>
            </a:r>
            <a:pPr indent="0" marL="0">
              <a:buNone/>
            </a:pPr>
            <a:endParaRPr lang="en-US" sz="2200" dirty="0"/>
          </a:p>
          <a:p>
            <a:pPr indent="0" marL="0">
              <a:buNone/>
            </a:pPr>
            <a:r>
              <a:rPr lang="en-US" sz="2200" b="1" dirty="0">
                <a:solidFill>
                  <a:srgbClr val="008800"/>
                </a:solidFill>
              </a:rPr>
              <a:t>Solution 1:</a:t>
            </a:r>
            <a:endParaRPr lang="en-US" sz="2200" dirty="0"/>
          </a:p>
          <a:p>
            <a:pPr indent="0" marL="0">
              <a:buNone/>
            </a:pPr>
            <a:r>
              <a:rPr lang="en-US" sz="2200" dirty="0">
                <a:solidFill>
                  <a:srgbClr val="363636"/>
                </a:solidFill>
              </a:rPr>
              <a:t> Abstracted form logic into custom hooks (e.g., useSignupForm) for clean components.</a:t>
            </a:r>
            <a:pPr indent="0" marL="0">
              <a:buNone/>
            </a:pPr>
            <a:endParaRPr lang="en-US" sz="2200" dirty="0"/>
          </a:p>
          <a:p>
            <a:pPr indent="0" marL="0">
              <a:buNone/>
            </a:pPr>
            <a:r>
              <a:rPr lang="en-US" sz="2200" b="1" dirty="0">
                <a:solidFill>
                  <a:srgbClr val="363636"/>
                </a:solidFill>
              </a:rPr>
              <a:t>Challenge 2:</a:t>
            </a:r>
            <a:endParaRPr lang="en-US" sz="2200" dirty="0"/>
          </a:p>
          <a:p>
            <a:pPr indent="0" marL="0">
              <a:buNone/>
            </a:pPr>
            <a:r>
              <a:rPr lang="en-US" sz="2200" dirty="0">
                <a:solidFill>
                  <a:srgbClr val="363636"/>
                </a:solidFill>
              </a:rPr>
              <a:t> Ensuring fast load times with a growing number of pages.</a:t>
            </a:r>
            <a:pPr indent="0" marL="0">
              <a:buNone/>
            </a:pPr>
            <a:endParaRPr lang="en-US" sz="2200" dirty="0"/>
          </a:p>
          <a:p>
            <a:pPr indent="0" marL="0">
              <a:buNone/>
            </a:pPr>
            <a:r>
              <a:rPr lang="en-US" sz="2200" b="1" dirty="0">
                <a:solidFill>
                  <a:srgbClr val="008800"/>
                </a:solidFill>
              </a:rPr>
              <a:t>Solution 2:</a:t>
            </a:r>
            <a:endParaRPr lang="en-US" sz="2200" dirty="0"/>
          </a:p>
          <a:p>
            <a:pPr indent="0" marL="0">
              <a:buNone/>
            </a:pPr>
            <a:r>
              <a:rPr lang="en-US" sz="2200" dirty="0">
                <a:solidFill>
                  <a:srgbClr val="363636"/>
                </a:solidFill>
              </a:rPr>
              <a:t> Implemented route-level lazy loading and React Query caching.</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457200"/>
            <a:ext cx="8229600" cy="914400"/>
          </a:xfrm>
          <a:prstGeom prst="rect">
            <a:avLst/>
          </a:prstGeom>
          <a:noFill/>
          <a:ln/>
        </p:spPr>
        <p:txBody>
          <a:bodyPr wrap="square" rtlCol="0" anchor="ctr"/>
          <a:lstStyle/>
          <a:p>
            <a:pPr indent="0" marL="0">
              <a:buNone/>
            </a:pPr>
            <a:r>
              <a:rPr lang="en-US" sz="3600" b="1" dirty="0">
                <a:solidFill>
                  <a:srgbClr val="0B3D91"/>
                </a:solidFill>
              </a:rPr>
              <a:t>Conclusion &amp; Future Scope</a:t>
            </a:r>
            <a:endParaRPr lang="en-US" sz="3600" dirty="0"/>
          </a:p>
        </p:txBody>
      </p:sp>
      <p:sp>
        <p:nvSpPr>
          <p:cNvPr id="3" name="Text 1"/>
          <p:cNvSpPr/>
          <p:nvPr/>
        </p:nvSpPr>
        <p:spPr>
          <a:xfrm>
            <a:off x="457200" y="1645920"/>
            <a:ext cx="8229600" cy="3657600"/>
          </a:xfrm>
          <a:prstGeom prst="rect">
            <a:avLst/>
          </a:prstGeom>
          <a:noFill/>
          <a:ln/>
        </p:spPr>
        <p:txBody>
          <a:bodyPr wrap="square" rtlCol="0" anchor="t"/>
          <a:lstStyle/>
          <a:p>
            <a:pPr marL="342900" indent="-342900">
              <a:buSzPct val="100000"/>
              <a:buChar char="•"/>
            </a:pPr>
            <a:r>
              <a:rPr lang="en-US" sz="2200" b="1" dirty="0">
                <a:solidFill>
                  <a:srgbClr val="363636"/>
                </a:solidFill>
              </a:rPr>
              <a:t>Summary:</a:t>
            </a:r>
            <a:pPr indent="0" marL="0">
              <a:buNone/>
            </a:pPr>
            <a:r>
              <a:rPr lang="en-US" sz="2200" dirty="0">
                <a:solidFill>
                  <a:srgbClr val="363636"/>
                </a:solidFill>
              </a:rPr>
              <a:t> A highly responsive, accessible, and type-safe frontend application.</a:t>
            </a:r>
            <a:pPr indent="0" marL="0">
              <a:buNone/>
            </a:pPr>
            <a:endParaRPr lang="en-US" sz="2200" dirty="0"/>
          </a:p>
          <a:p>
            <a:pPr indent="0" marL="0">
              <a:buNone/>
            </a:pPr>
            <a:r>
              <a:rPr lang="en-US" sz="2200" b="1" dirty="0">
                <a:solidFill>
                  <a:srgbClr val="363636"/>
                </a:solidFill>
              </a:rPr>
              <a:t>Future Scope 1:</a:t>
            </a:r>
            <a:endParaRPr lang="en-US" sz="2200" dirty="0"/>
          </a:p>
          <a:p>
            <a:pPr indent="0" marL="0">
              <a:buNone/>
            </a:pPr>
            <a:r>
              <a:rPr lang="en-US" sz="2200" dirty="0">
                <a:solidFill>
                  <a:srgbClr val="363636"/>
                </a:solidFill>
              </a:rPr>
              <a:t> Implementing dark mode switching across the entire platform.</a:t>
            </a:r>
            <a:pPr indent="0" marL="0">
              <a:buNone/>
            </a:pPr>
            <a:endParaRPr lang="en-US" sz="2200" dirty="0"/>
          </a:p>
          <a:p>
            <a:pPr indent="0" marL="0">
              <a:buNone/>
            </a:pPr>
            <a:r>
              <a:rPr lang="en-US" sz="2200" b="1" dirty="0">
                <a:solidFill>
                  <a:srgbClr val="363636"/>
                </a:solidFill>
              </a:rPr>
              <a:t>Future Scope 2:</a:t>
            </a:r>
            <a:endParaRPr lang="en-US" sz="2200" dirty="0"/>
          </a:p>
          <a:p>
            <a:pPr indent="0" marL="0">
              <a:buNone/>
            </a:pPr>
            <a:r>
              <a:rPr lang="en-US" sz="2200" dirty="0">
                <a:solidFill>
                  <a:srgbClr val="363636"/>
                </a:solidFill>
              </a:rPr>
              <a:t> Adding Progressive Web App (PWA) support for offline capabilities.</a:t>
            </a:r>
            <a:pPr indent="0" marL="0">
              <a:buNone/>
            </a:pPr>
            <a:endParaRPr lang="en-US" sz="2200" dirty="0"/>
          </a:p>
          <a:p>
            <a:pPr indent="0" marL="0">
              <a:buNone/>
            </a:pPr>
            <a:r>
              <a:rPr lang="en-US" sz="2200" b="1" dirty="0">
                <a:solidFill>
                  <a:srgbClr val="363636"/>
                </a:solidFill>
              </a:rPr>
              <a:t>Future Scope 3:</a:t>
            </a:r>
            <a:endParaRPr lang="en-US" sz="2200" dirty="0"/>
          </a:p>
          <a:p>
            <a:pPr indent="0" marL="0">
              <a:buNone/>
            </a:pPr>
            <a:r>
              <a:rPr lang="en-US" sz="2200" dirty="0">
                <a:solidFill>
                  <a:srgbClr val="363636"/>
                </a:solidFill>
              </a:rPr>
              <a:t> Enhancing micro-animations to create a more dynamic user experience.</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2026-08-12T04:14:34Z</dcterms:created>
  <dcterms:modified xsi:type="dcterms:W3CDTF">2026-08-12T04:14:34Z</dcterms:modified>
</cp:coreProperties>
</file>